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716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2984480" cy="17556480"/>
          </a:xfrm>
          <a:prstGeom prst="rect">
            <a:avLst/>
          </a:prstGeom>
          <a:solidFill>
            <a:srgbClr val="ECFEFF"/>
          </a:solidFill>
          <a:ln w="381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2252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E7490"/>
                </a:solidFill>
                <a:latin typeface="Calibri"/>
              </a:rPr>
              <a:t>3 · Experiments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F172A"/>
                </a:solidFill>
                <a:latin typeface="Calibri"/>
              </a:rPr>
              <a:t>Datasets, baselines, metrics, and key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2252960" cy="5669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400" b="1" i="0">
                <a:solidFill>
                  <a:srgbClr val="0F172A"/>
                </a:solidFill>
                <a:latin typeface="Calibri"/>
              </a:rPr>
              <a:t>Datasets &amp; protocol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33415B"/>
                </a:solidFill>
                <a:latin typeface="Calibri"/>
              </a:rPr>
              <a:t>QM9 (≤9 atoms) and ZINC-250k (drug-like). 500 diffusion steps, classifier-free guidance (λ = 3 on QM9, 2 on ZINC). Targeting: 100 target properties × 10 molecules, scored by MAE. Optimization (Jin et al.): corrupt for 100 steps, denoise toward the target, keep the best candidate above a Tanimoto threshold.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F172A"/>
                </a:solidFill>
                <a:latin typeface="Calibri"/>
              </a:rPr>
              <a:t>Baselines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33415B"/>
                </a:solidFill>
                <a:latin typeface="Calibri"/>
              </a:rPr>
              <a:t>FreeGress and DiGress for targeting; JT-VAE, CG-VAE, GCPN for optimization. All use a fixed-size denoiser. GrIDDD is the only one that can insert and delete atoms.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F172A"/>
                </a:solidFill>
                <a:latin typeface="Calibri"/>
              </a:rPr>
              <a:t>Property targeting (MAE ↓)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33415B"/>
                </a:solidFill>
                <a:latin typeface="Calibri"/>
              </a:rPr>
              <a:t>QM9 μ: 0.66 vs 0.74 (FreeGress). ZINC MW: 4.89 vs 8.96, roughly half the error, and without giving the model the target size in advance. Validity holds or improves in most settings.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F172A"/>
                </a:solidFill>
                <a:latin typeface="Calibri"/>
              </a:rPr>
              <a:t>Optimization, OOD &amp; ablation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33415B"/>
                </a:solidFill>
                <a:latin typeface="Calibri"/>
              </a:rPr>
              <a:t>QED success 45.1% vs 9.4% (GCPN), about 5×. LogP improvement 2.70. Out of distribution, GrIDDD stays 35% valid at 15 atoms (trained only up to 14); DiGress drops to near zero. Switch insertion/deletion off and QED success falls 45.1 → 33.8%, so the size control is doing the work.</a:t>
            </a:r>
          </a:p>
        </p:txBody>
      </p:sp>
      <p:pic>
        <p:nvPicPr>
          <p:cNvPr id="5" name="Picture 4" descr="orig_table1_qm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138160"/>
            <a:ext cx="5943600" cy="17786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9953413"/>
            <a:ext cx="5943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33415B"/>
                </a:solidFill>
                <a:latin typeface="Calibri"/>
              </a:rPr>
              <a:t>Table 1 — property targeting on QM9 (Ninniri et al., 2025).</a:t>
            </a:r>
          </a:p>
        </p:txBody>
      </p:sp>
      <p:pic>
        <p:nvPicPr>
          <p:cNvPr id="7" name="Picture 6" descr="orig_table2_zi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8138160"/>
            <a:ext cx="6035040" cy="13340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9508797"/>
            <a:ext cx="6035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33415B"/>
                </a:solidFill>
                <a:latin typeface="Calibri"/>
              </a:rPr>
              <a:t>Table 2 — property targeting on ZINC-250k.</a:t>
            </a:r>
          </a:p>
        </p:txBody>
      </p:sp>
      <p:pic>
        <p:nvPicPr>
          <p:cNvPr id="9" name="Picture 8" descr="orig_fig3_o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0602637"/>
            <a:ext cx="6126480" cy="1871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2511193"/>
            <a:ext cx="6126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33415B"/>
                </a:solidFill>
                <a:latin typeface="Calibri"/>
              </a:rPr>
              <a:t>Fig. 3 — out-of-distribution validity vs molecule size.</a:t>
            </a:r>
          </a:p>
        </p:txBody>
      </p:sp>
      <p:pic>
        <p:nvPicPr>
          <p:cNvPr id="11" name="Picture 10" descr="orig_table3_opt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0698480"/>
            <a:ext cx="6035040" cy="185534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49440" y="12590399"/>
            <a:ext cx="6035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33415B"/>
                </a:solidFill>
                <a:latin typeface="Calibri"/>
              </a:rPr>
              <a:t>Table 3 — property optimization on ZINC-250k.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