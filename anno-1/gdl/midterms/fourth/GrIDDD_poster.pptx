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5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29635704" cy="5500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0275784" cy="5500000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30275784" cy="164592"/>
          </a:xfrm>
          <a:prstGeom prst="rect">
            <a:avLst/>
          </a:prstGeom>
          <a:solidFill>
            <a:srgbClr val="F5B51B"/>
          </a:solidFill>
          <a:ln w="1270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6748272"/>
            <a:ext cx="30275784" cy="73152"/>
          </a:xfrm>
          <a:prstGeom prst="rect">
            <a:avLst/>
          </a:prstGeom>
          <a:solidFill>
            <a:srgbClr val="40B7D8"/>
          </a:solidFill>
          <a:ln w="1270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/mnt/data/logo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66892"/>
            <a:ext cx="4206240" cy="3426937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957651" y="1155636"/>
            <a:ext cx="6296938" cy="33580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731520"/>
            <a:ext cx="17739360" cy="23774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sz="7000" b="1" i="0">
                <a:solidFill>
                  <a:srgbClr val="FFFFFF"/>
                </a:solidFill>
              </a:rPr>
              <a:t>GrIDDD: Graph Diffusion</a:t>
            </a:r>
            <a:endParaRPr lang="en-US" sz="8000" dirty="0"/>
          </a:p>
          <a:p>
            <a:pPr algn="ctr"/>
            <a:r>
              <a:rPr sz="7000" b="1" i="0">
                <a:solidFill>
                  <a:srgbClr val="FFFFFF"/>
                </a:solidFill>
              </a:rPr>
              <a:t>that can Insert and Delete</a:t>
            </a:r>
          </a:p>
        </p:txBody>
      </p:sp>
      <p:sp>
        <p:nvSpPr>
          <p:cNvPr id="10" name="Text 6"/>
          <p:cNvSpPr/>
          <p:nvPr/>
        </p:nvSpPr>
        <p:spPr>
          <a:xfrm>
            <a:off x="5303520" y="3657600"/>
            <a:ext cx="17739360" cy="7315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algn="ctr"/>
            <a:r>
              <a:rPr sz="4000" b="0" i="0">
                <a:solidFill>
                  <a:srgbClr val="DDEDF7"/>
                </a:solidFill>
              </a:rPr>
              <a:t>Author Name 1 · Author Name 2 · Author Name 3 · Author Name 4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5623560" y="5105400"/>
            <a:ext cx="16550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5B51B"/>
                </a:solidFill>
              </a:rPr>
              <a:t>Generative and Deep Learning Course 2025/2026 - University of Pisa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960120" y="7635240"/>
            <a:ext cx="13834872" cy="154533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960120" y="7635240"/>
            <a:ext cx="13834872" cy="1143000"/>
          </a:xfrm>
          <a:prstGeom prst="rect">
            <a:avLst/>
          </a:prstGeom>
          <a:solidFill>
            <a:srgbClr val="005B96"/>
          </a:solidFill>
          <a:ln w="127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1371600" y="783640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1399032" y="9052560"/>
            <a:ext cx="12957048" cy="7772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sz="2800" b="1" i="0">
                <a:solidFill>
                  <a:srgbClr val="102A43"/>
                </a:solidFill>
              </a:rPr>
              <a:t>Why fixed-size graph diffusion is a bug for property-driven molecular design.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463040" y="996696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2600" b="1" i="0">
                <a:solidFill>
                  <a:srgbClr val="102A43"/>
                </a:solidFill>
              </a:rPr>
              <a:t>Task.</a:t>
            </a:r>
            <a:endParaRPr lang="en-US" sz="1500" dirty="0"/>
          </a:p>
          <a:p>
            <a:r>
              <a:rPr sz="2400" b="0" i="0">
                <a:solidFill>
                  <a:srgbClr val="52616B"/>
                </a:solidFill>
              </a:rPr>
              <a:t>Generative graph DDPMs for de-novo molecular design — two settings: property targeting (generate molecules with prescribed properties) and property optimization (edit a molecule to improve a target property).</a:t>
            </a:r>
          </a:p>
          <a:p>
            <a:r>
              <a:rPr sz="2600" b="1" i="0">
                <a:solidFill>
                  <a:srgbClr val="102A43"/>
                </a:solidFill>
              </a:rPr>
              <a:t>The fixed-size limitation.</a:t>
            </a:r>
          </a:p>
          <a:p>
            <a:r>
              <a:rPr sz="2400" b="0" i="0">
                <a:solidFill>
                  <a:srgbClr val="52616B"/>
                </a:solidFill>
              </a:rPr>
              <a:t>All existing graph DDPMs (DiGress, FreeGress, MiDi) keep the atom count fixed throughout diffusion. This breaks down when the target property correlates with molecular size (MW, QED). Pre-sampling the size from a classifier does not help in optimization, where the size is part of what must change.</a:t>
            </a:r>
          </a:p>
          <a:p>
            <a:r>
              <a:rPr sz="2600" b="1" i="0">
                <a:solidFill>
                  <a:srgbClr val="102A43"/>
                </a:solidFill>
              </a:rPr>
              <a:t>Contribution.</a:t>
            </a:r>
          </a:p>
          <a:p>
            <a:r>
              <a:rPr sz="2400" b="0" i="0">
                <a:solidFill>
                  <a:srgbClr val="52616B"/>
                </a:solidFill>
              </a:rPr>
              <a:t>GrIDDD is the first discrete graph DDPM that monotonically inserts and deletes nodes during both forward and reverse processes — size-adaptive molecular generation. Matches or beats SOTA on targeting; substantially outperforms specialized optimizers.</a:t>
            </a:r>
          </a:p>
        </p:txBody>
      </p:sp>
      <p:sp>
        <p:nvSpPr>
          <p:cNvPr id="18" name="Shape 14"/>
          <p:cNvSpPr/>
          <p:nvPr/>
        </p:nvSpPr>
        <p:spPr>
          <a:xfrm>
            <a:off x="1463040" y="16642080"/>
            <a:ext cx="12829032" cy="5486400"/>
          </a:xfrm>
          <a:prstGeom prst="roundRect">
            <a:avLst>
              <a:gd name="adj" fmla="val 1616"/>
            </a:avLst>
          </a:prstGeom>
          <a:solidFill>
            <a:srgbClr val="FFFFFF">
              <a:alpha val="90000"/>
            </a:srgbClr>
          </a:solidFill>
          <a:ln w="15875">
            <a:solidFill>
              <a:srgbClr val="D2DA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1463040" y="16642080"/>
            <a:ext cx="12829032" cy="7000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sz="3200" b="1" i="1">
                <a:solidFill>
                  <a:srgbClr val="005B96"/>
                </a:solidFill>
              </a:rPr>
              <a:t>Fig. 1 — qualitative behavior of GrIDDD on QM9.</a:t>
            </a:r>
            <a:endParaRPr lang="en-US" sz="1800" dirty="0"/>
          </a:p>
          <a:p>
            <a:pPr algn="ctr"/>
            <a:r>
              <a:rPr sz="1900" b="0" i="0">
                <a:solidFill>
                  <a:srgbClr val="52616B"/>
                </a:solidFill>
              </a:rPr>
              <a:t>Top: 2-atom latent → +6 atoms inserted. Bottom: 18-atom latent → −9 deleted. Graph size adapts dynamically during denoising.</a:t>
            </a:r>
          </a:p>
        </p:txBody>
      </p:sp>
      <p:sp>
        <p:nvSpPr>
          <p:cNvPr id="20" name="Shape 16"/>
          <p:cNvSpPr/>
          <p:nvPr/>
        </p:nvSpPr>
        <p:spPr>
          <a:xfrm>
            <a:off x="1463040" y="22521672"/>
            <a:ext cx="12829032" cy="9144"/>
          </a:xfrm>
          <a:prstGeom prst="rect">
            <a:avLst/>
          </a:prstGeom>
          <a:noFill/>
          <a:ln w="6350">
            <a:solidFill>
              <a:srgbClr val="005B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15480792" y="7635240"/>
            <a:ext cx="13834872" cy="154533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15480792" y="7635240"/>
            <a:ext cx="13834872" cy="1143000"/>
          </a:xfrm>
          <a:prstGeom prst="rect">
            <a:avLst/>
          </a:prstGeom>
          <a:solidFill>
            <a:srgbClr val="F5B51B"/>
          </a:solidFill>
          <a:ln w="1270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15892272" y="783640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Approach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15919704" y="9052560"/>
            <a:ext cx="12957048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2DAE2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sz="2800" b="1" i="0">
                <a:solidFill>
                  <a:srgbClr val="102A43"/>
                </a:solidFill>
              </a:rPr>
              <a:t>Discrete diffusion on graphs, generalized to monotonic node insertions and deletions.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5983712" y="996696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2600" b="1" i="0">
                <a:solidFill>
                  <a:srgbClr val="102A43"/>
                </a:solidFill>
              </a:rPr>
              <a:t>Setup.</a:t>
            </a:r>
            <a:endParaRPr lang="en-US" sz="1500" dirty="0"/>
          </a:p>
          <a:p>
            <a:r>
              <a:rPr sz="2400" b="0" i="0">
                <a:solidFill>
                  <a:srgbClr val="52616B"/>
                </a:solidFill>
              </a:rPr>
              <a:t>Molecule = graph G = (X, E): one-hot atoms X, one-hot bonds E (no-bond as a category). Discrete DDPM under classifier-free guidance on a property y.</a:t>
            </a:r>
          </a:p>
          <a:p>
            <a:r>
              <a:rPr sz="2600" b="1" i="0">
                <a:solidFill>
                  <a:srgbClr val="102A43"/>
                </a:solidFill>
              </a:rPr>
              <a:t>Three forward regimes (Δ^T = n^T − n^0).</a:t>
            </a:r>
          </a:p>
          <a:p>
            <a:r>
              <a:rPr sz="2400" b="0" i="0">
                <a:solidFill>
                  <a:srgbClr val="52616B"/>
                </a:solidFill>
              </a:rPr>
              <a:t>• Δ^T = 0 → standard DiGress / FreeGress.</a:t>
            </a:r>
          </a:p>
          <a:p>
            <a:r>
              <a:rPr sz="2400" b="0" i="0">
                <a:solidFill>
                  <a:srgbClr val="52616B"/>
                </a:solidFill>
              </a:rPr>
              <a:t>• Δ^T &lt; 0 → absorbing DEL + transient DEL* (DEL* can revert to a real type in reverse → enables reinsertion).</a:t>
            </a:r>
          </a:p>
          <a:p>
            <a:r>
              <a:rPr sz="2400" b="0" i="0">
                <a:solidFill>
                  <a:srgbClr val="52616B"/>
                </a:solidFill>
              </a:rPr>
              <a:t>• Δ^T &gt; 0 → nodes appear at sampled timesteps with type drawn from the empirical marginal m_X.</a:t>
            </a:r>
          </a:p>
          <a:p>
            <a:r>
              <a:rPr sz="2400" b="0" i="0">
                <a:solidFill>
                  <a:srgbClr val="52616B"/>
                </a:solidFill>
              </a:rPr>
              <a:t>Insert/delete times follow a logistic ζ'(t) with center D, steepness w.</a:t>
            </a:r>
          </a:p>
          <a:p>
            <a:r>
              <a:rPr sz="2600" b="1" i="0">
                <a:solidFill>
                  <a:srgbClr val="102A43"/>
                </a:solidFill>
              </a:rPr>
              <a:t>Reverse — two networks + loss.</a:t>
            </a:r>
          </a:p>
          <a:p>
            <a:r>
              <a:rPr sz="2400" b="0" i="0">
                <a:solidFill>
                  <a:srgbClr val="52616B"/>
                </a:solidFill>
              </a:rPr>
              <a:t>Main net predicts (X^0, E^0) + activation time ŝ per node. Aux g_φ predicts how many DEL* to inject at step t.</a:t>
            </a:r>
          </a:p>
          <a:p>
            <a:r>
              <a:rPr sz="2400" b="0" i="0">
                <a:solidFill>
                  <a:srgbClr val="52616B"/>
                </a:solidFill>
              </a:rPr>
              <a:t>L = λ_X·CE_X + λ_E·CE_E + λ_S·CE_S + λ_DEL·CE_DEL (eq. 10). Conditional dropout with prob. ρ.</a:t>
            </a:r>
          </a:p>
        </p:txBody>
      </p:sp>
      <p:sp>
        <p:nvSpPr>
          <p:cNvPr id="26" name="Shape 22"/>
          <p:cNvSpPr/>
          <p:nvPr/>
        </p:nvSpPr>
        <p:spPr>
          <a:xfrm>
            <a:off x="15983712" y="16642080"/>
            <a:ext cx="12829032" cy="5486400"/>
          </a:xfrm>
          <a:prstGeom prst="roundRect">
            <a:avLst>
              <a:gd name="adj" fmla="val 161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3"/>
          <p:cNvSpPr/>
          <p:nvPr/>
        </p:nvSpPr>
        <p:spPr>
          <a:xfrm>
            <a:off x="15983712" y="16642080"/>
            <a:ext cx="12829032" cy="7000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sz="3200" b="1" i="1">
                <a:solidFill>
                  <a:srgbClr val="F5B51B"/>
                </a:solidFill>
              </a:rPr>
              <a:t>Fig. 2 — augmented transition matrices A*, B*, C*, D*.</a:t>
            </a:r>
            <a:endParaRPr lang="en-US" sz="1800" dirty="0"/>
          </a:p>
          <a:p>
            <a:pPr algn="ctr"/>
            <a:r>
              <a:rPr sz="1900" b="0" i="0">
                <a:solidFill>
                  <a:srgbClr val="52616B"/>
                </a:solidFill>
              </a:rPr>
              <a:t>Three forward regimes (Δ^T = 0, &lt; 0, &gt; 0). Auxiliary DEL* state allows reinsertion during reverse; g_φ predicts how many DEL* to inject at each step.</a:t>
            </a:r>
          </a:p>
        </p:txBody>
      </p:sp>
      <p:sp>
        <p:nvSpPr>
          <p:cNvPr id="28" name="Shape 24"/>
          <p:cNvSpPr/>
          <p:nvPr/>
        </p:nvSpPr>
        <p:spPr>
          <a:xfrm>
            <a:off x="15983712" y="22521672"/>
            <a:ext cx="12829032" cy="9144"/>
          </a:xfrm>
          <a:prstGeom prst="rect">
            <a:avLst/>
          </a:prstGeom>
          <a:noFill/>
          <a:ln w="6350">
            <a:solidFill>
              <a:srgbClr val="F5B51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5"/>
          <p:cNvSpPr/>
          <p:nvPr/>
        </p:nvSpPr>
        <p:spPr>
          <a:xfrm>
            <a:off x="960120" y="23774400"/>
            <a:ext cx="13834872" cy="159105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6"/>
          <p:cNvSpPr/>
          <p:nvPr/>
        </p:nvSpPr>
        <p:spPr>
          <a:xfrm>
            <a:off x="960120" y="23774400"/>
            <a:ext cx="13834872" cy="1143000"/>
          </a:xfrm>
          <a:prstGeom prst="rect">
            <a:avLst/>
          </a:prstGeom>
          <a:solidFill>
            <a:srgbClr val="40B7D8"/>
          </a:solidFill>
          <a:ln w="1270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1371600" y="2397556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Experiments</a:t>
            </a:r>
            <a:endParaRPr lang="en-US" sz="2800" dirty="0"/>
          </a:p>
        </p:txBody>
      </p:sp>
      <p:sp>
        <p:nvSpPr>
          <p:cNvPr id="32" name="Text 28"/>
          <p:cNvSpPr/>
          <p:nvPr/>
        </p:nvSpPr>
        <p:spPr>
          <a:xfrm>
            <a:off x="1399032" y="25191720"/>
            <a:ext cx="12957048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2DAE2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sz="2800" b="1" i="0">
                <a:solidFill>
                  <a:srgbClr val="102A43"/>
                </a:solidFill>
              </a:rPr>
              <a:t>Property targeting, property optimization, and out-of-distribution sampling.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1463040" y="2610612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2600" b="1" i="0">
                <a:solidFill>
                  <a:srgbClr val="102A43"/>
                </a:solidFill>
              </a:rPr>
              <a:t>Setup.</a:t>
            </a:r>
            <a:endParaRPr lang="en-US" sz="1500" dirty="0"/>
          </a:p>
          <a:p>
            <a:r>
              <a:rPr sz="2400" b="0" i="0">
                <a:solidFill>
                  <a:srgbClr val="52616B"/>
                </a:solidFill>
              </a:rPr>
              <a:t>QM9 + ZINC-250k. T = 500 steps. Guidance λ = 3 (QM9) / 2 (ZINC).</a:t>
            </a:r>
          </a:p>
          <a:p>
            <a:r>
              <a:rPr sz="2600" b="1" i="0">
                <a:solidFill>
                  <a:srgbClr val="102A43"/>
                </a:solidFill>
              </a:rPr>
              <a:t>Property targeting (MAE ↓).</a:t>
            </a:r>
          </a:p>
          <a:p>
            <a:r>
              <a:rPr sz="2400" b="0" i="0">
                <a:solidFill>
                  <a:srgbClr val="52616B"/>
                </a:solidFill>
              </a:rPr>
              <a:t>• QM9 μ: 0.66 — best (FreeGress 0.74, DiGress 0.80).</a:t>
            </a:r>
          </a:p>
          <a:p>
            <a:r>
              <a:rPr sz="2400" b="0" i="0">
                <a:solidFill>
                  <a:srgbClr val="52616B"/>
                </a:solidFill>
              </a:rPr>
              <a:t>• ZINC MW: 4.89 vs 8.96 — nearly halved (size matters).</a:t>
            </a:r>
          </a:p>
          <a:p>
            <a:r>
              <a:rPr sz="2600" b="1" i="0">
                <a:solidFill>
                  <a:srgbClr val="102A43"/>
                </a:solidFill>
              </a:rPr>
              <a:t>Property optimization (Jin et al.).</a:t>
            </a:r>
          </a:p>
          <a:p>
            <a:r>
              <a:rPr sz="2400" b="0" i="0">
                <a:solidFill>
                  <a:srgbClr val="52616B"/>
                </a:solidFill>
              </a:rPr>
              <a:t>• QED success: 45.1% vs 9.4% GCPN (≈ 5×).</a:t>
            </a:r>
          </a:p>
          <a:p>
            <a:r>
              <a:rPr sz="2400" b="0" i="0">
                <a:solidFill>
                  <a:srgbClr val="52616B"/>
                </a:solidFill>
              </a:rPr>
              <a:t>• LogP improvement: 2.70 vs 2.49 GCPN.</a:t>
            </a:r>
          </a:p>
          <a:p>
            <a:r>
              <a:rPr sz="2600" b="1" i="0">
                <a:solidFill>
                  <a:srgbClr val="102A43"/>
                </a:solidFill>
              </a:rPr>
              <a:t>OOD + ablation.</a:t>
            </a:r>
          </a:p>
          <a:p>
            <a:r>
              <a:rPr sz="2400" b="0" i="0">
                <a:solidFill>
                  <a:srgbClr val="52616B"/>
                </a:solidFill>
              </a:rPr>
              <a:t>At size 15 (training cap 14): GrIDDD 35% valid, DiGress ≈ 0%. Disabling insert/delete drops QED 45.1 → 33.8 — confirms size adaptation is the source of the gain.</a:t>
            </a:r>
          </a:p>
        </p:txBody>
      </p:sp>
      <p:sp>
        <p:nvSpPr>
          <p:cNvPr id="34" name="Shape 30"/>
          <p:cNvSpPr/>
          <p:nvPr/>
        </p:nvSpPr>
        <p:spPr>
          <a:xfrm>
            <a:off x="1463040" y="32826960"/>
            <a:ext cx="12829032" cy="5852160"/>
          </a:xfrm>
          <a:prstGeom prst="roundRect">
            <a:avLst>
              <a:gd name="adj" fmla="val 153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1463040" y="32826960"/>
            <a:ext cx="12829032" cy="7000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sz="3200" b="1" i="1">
                <a:solidFill>
                  <a:srgbClr val="40B7D8"/>
                </a:solidFill>
              </a:rPr>
              <a:t>Tables 1–3 + Fig. 3 — consolidated results.</a:t>
            </a:r>
            <a:endParaRPr lang="en-US" sz="1800" dirty="0"/>
          </a:p>
          <a:p>
            <a:pPr algn="ctr"/>
            <a:r>
              <a:rPr sz="1900" b="0" i="0">
                <a:solidFill>
                  <a:srgbClr val="52616B"/>
                </a:solidFill>
              </a:rPr>
              <a:t>Property targeting (QM9 + ZINC) · property optimization on ZINC · OOD validity at 15 atoms.</a:t>
            </a:r>
          </a:p>
        </p:txBody>
      </p:sp>
      <p:sp>
        <p:nvSpPr>
          <p:cNvPr id="36" name="Shape 32"/>
          <p:cNvSpPr/>
          <p:nvPr/>
        </p:nvSpPr>
        <p:spPr>
          <a:xfrm>
            <a:off x="1463040" y="39118032"/>
            <a:ext cx="12829032" cy="9144"/>
          </a:xfrm>
          <a:prstGeom prst="rect">
            <a:avLst/>
          </a:prstGeom>
          <a:noFill/>
          <a:ln w="6350">
            <a:solidFill>
              <a:srgbClr val="40B7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3"/>
          <p:cNvSpPr/>
          <p:nvPr/>
        </p:nvSpPr>
        <p:spPr>
          <a:xfrm>
            <a:off x="15480792" y="23774400"/>
            <a:ext cx="13834872" cy="159105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4"/>
          <p:cNvSpPr/>
          <p:nvPr/>
        </p:nvSpPr>
        <p:spPr>
          <a:xfrm>
            <a:off x="15480792" y="23774400"/>
            <a:ext cx="13834872" cy="1143000"/>
          </a:xfrm>
          <a:prstGeom prst="rect">
            <a:avLst/>
          </a:prstGeom>
          <a:solidFill>
            <a:srgbClr val="005B96"/>
          </a:solidFill>
          <a:ln w="127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5"/>
          <p:cNvSpPr/>
          <p:nvPr/>
        </p:nvSpPr>
        <p:spPr>
          <a:xfrm>
            <a:off x="15892272" y="2397556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Personal considerations</a:t>
            </a:r>
            <a:endParaRPr lang="en-US" sz="2800" dirty="0"/>
          </a:p>
        </p:txBody>
      </p:sp>
      <p:sp>
        <p:nvSpPr>
          <p:cNvPr id="40" name="Text 36"/>
          <p:cNvSpPr/>
          <p:nvPr/>
        </p:nvSpPr>
        <p:spPr>
          <a:xfrm>
            <a:off x="15919704" y="25191720"/>
            <a:ext cx="12957048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2DAE2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sz="2800" b="1" i="0">
                <a:solidFill>
                  <a:srgbClr val="102A43"/>
                </a:solidFill>
              </a:rPr>
              <a:t>What we take from this work and how it relates to the course.</a:t>
            </a:r>
            <a:endParaRPr lang="en-US" sz="1700" dirty="0"/>
          </a:p>
        </p:txBody>
      </p:sp>
      <p:sp>
        <p:nvSpPr>
          <p:cNvPr id="41" name="Text 37"/>
          <p:cNvSpPr/>
          <p:nvPr/>
        </p:nvSpPr>
        <p:spPr>
          <a:xfrm>
            <a:off x="15983712" y="2610612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2600" b="1" i="0">
                <a:solidFill>
                  <a:srgbClr val="102A43"/>
                </a:solidFill>
              </a:rPr>
              <a:t>Strengths.</a:t>
            </a:r>
            <a:endParaRPr lang="en-US" sz="1500" dirty="0"/>
          </a:p>
          <a:p>
            <a:r>
              <a:rPr sz="2400" b="0" i="0">
                <a:solidFill>
                  <a:srgbClr val="52616B"/>
                </a:solidFill>
              </a:rPr>
              <a:t>Minimal extension (DEL + transient DEL*) unlocks variable graph size. Gains are largest where size matters (MW, QED); marginal elsewhere.</a:t>
            </a:r>
          </a:p>
          <a:p>
            <a:r>
              <a:rPr sz="2600" b="1" i="0">
                <a:solidFill>
                  <a:srgbClr val="102A43"/>
                </a:solidFill>
              </a:rPr>
              <a:t>Weaknesses.</a:t>
            </a:r>
          </a:p>
          <a:p>
            <a:r>
              <a:rPr sz="2400" b="0" i="0">
                <a:solidFill>
                  <a:srgbClr val="52616B"/>
                </a:solidFill>
              </a:rPr>
              <a:t>Two networks can conflict on the same step. More disconnected molecules than FreeGress / DiGress. ~30% training overhead.</a:t>
            </a:r>
          </a:p>
          <a:p>
            <a:r>
              <a:rPr sz="2600" b="1" i="0">
                <a:solidFill>
                  <a:srgbClr val="102A43"/>
                </a:solidFill>
              </a:rPr>
              <a:t>Course connection.</a:t>
            </a:r>
          </a:p>
          <a:p>
            <a:r>
              <a:rPr sz="2400" b="0" i="0">
                <a:solidFill>
                  <a:srgbClr val="52616B"/>
                </a:solidFill>
              </a:rPr>
              <a:t>Discrete DDPMs (GDL27) × graph message passing (GDL19–22). Denoiser is a graph transformer. Pushes diffusion past its fixed-dimension assumption.</a:t>
            </a:r>
          </a:p>
          <a:p>
            <a:r>
              <a:rPr sz="2600" b="1" i="0">
                <a:solidFill>
                  <a:srgbClr val="102A43"/>
                </a:solidFill>
              </a:rPr>
              <a:t>Open questions.</a:t>
            </a:r>
          </a:p>
          <a:p>
            <a:r>
              <a:rPr sz="2400" b="0" i="0">
                <a:solidFill>
                  <a:srgbClr val="52616B"/>
                </a:solidFill>
              </a:rPr>
              <a:t>• Can g_φ be folded into the main net?</a:t>
            </a:r>
          </a:p>
          <a:p>
            <a:r>
              <a:rPr sz="2400" b="0" i="0">
                <a:solidFill>
                  <a:srgbClr val="52616B"/>
                </a:solidFill>
              </a:rPr>
              <a:t>• Generalize beyond molecules (e.g. floor plans)?</a:t>
            </a:r>
          </a:p>
        </p:txBody>
      </p:sp>
      <p:sp>
        <p:nvSpPr>
          <p:cNvPr id="42" name="Shape 38"/>
          <p:cNvSpPr/>
          <p:nvPr/>
        </p:nvSpPr>
        <p:spPr>
          <a:xfrm>
            <a:off x="15983712" y="32826960"/>
            <a:ext cx="12829032" cy="5852160"/>
          </a:xfrm>
          <a:prstGeom prst="roundRect">
            <a:avLst>
              <a:gd name="adj" fmla="val 153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9"/>
          <p:cNvSpPr/>
          <p:nvPr/>
        </p:nvSpPr>
        <p:spPr>
          <a:xfrm>
            <a:off x="15983712" y="32826960"/>
            <a:ext cx="12829032" cy="7000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sz="3200" b="1" i="1">
                <a:solidFill>
                  <a:srgbClr val="005B96"/>
                </a:solidFill>
              </a:rPr>
              <a:t>Where size-adaptation pays off (MAE reduction vs FreeGress).</a:t>
            </a:r>
            <a:endParaRPr lang="en-US" sz="1800" dirty="0"/>
          </a:p>
          <a:p>
            <a:pPr algn="ctr"/>
            <a:r>
              <a:rPr sz="1900" b="0" i="0">
                <a:solidFill>
                  <a:srgbClr val="52616B"/>
                </a:solidFill>
              </a:rPr>
              <a:t>MW: −45% MAE · μ: −11% · QED ≈ flat · HOMO/LogP slightly worse. Gains track size-dependence of the property — confirming the design hypothesis.</a:t>
            </a:r>
          </a:p>
        </p:txBody>
      </p:sp>
      <p:sp>
        <p:nvSpPr>
          <p:cNvPr id="44" name="Shape 40"/>
          <p:cNvSpPr/>
          <p:nvPr/>
        </p:nvSpPr>
        <p:spPr>
          <a:xfrm>
            <a:off x="15983712" y="39118032"/>
            <a:ext cx="12829032" cy="9144"/>
          </a:xfrm>
          <a:prstGeom prst="rect">
            <a:avLst/>
          </a:prstGeom>
          <a:noFill/>
          <a:ln w="6350">
            <a:solidFill>
              <a:srgbClr val="005B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1"/>
          <p:cNvSpPr/>
          <p:nvPr/>
        </p:nvSpPr>
        <p:spPr>
          <a:xfrm>
            <a:off x="0" y="41477184"/>
            <a:ext cx="30275784" cy="1325880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2"/>
          <p:cNvSpPr/>
          <p:nvPr/>
        </p:nvSpPr>
        <p:spPr>
          <a:xfrm>
            <a:off x="1097280" y="41842944"/>
            <a:ext cx="28081224" cy="38404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sz="1900" b="0" i="0">
                <a:solidFill>
                  <a:srgbClr val="DDEDF7"/>
                </a:solidFill>
              </a:rPr>
              <a:t>Ninniri M., Podda M., Bacciu D. — Graph Diffusion that can Insert and Delete — NeurIPS 2025 — arXiv:2506.15725 — code: https://github.com/mninniri/GrIDDD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1097280" y="42254424"/>
            <a:ext cx="280812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51B"/>
                </a:solidFill>
              </a:rPr>
              <a:t>Generative and Deep Learning Course · University of Pisa</a:t>
            </a:r>
            <a:endParaRPr lang="en-US" sz="1000" dirty="0"/>
          </a:p>
        </p:txBody>
      </p:sp>
      <p:pic>
        <p:nvPicPr>
          <p:cNvPr id="48" name="Picture 47" descr="fig1_qualit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3040" y="18634287"/>
            <a:ext cx="12629032" cy="2201985"/>
          </a:xfrm>
          <a:prstGeom prst="rect">
            <a:avLst/>
          </a:prstGeom>
        </p:spPr>
      </p:pic>
      <p:pic>
        <p:nvPicPr>
          <p:cNvPr id="49" name="Picture 48" descr="fig2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0992" y="17442080"/>
            <a:ext cx="11674472" cy="4586400"/>
          </a:xfrm>
          <a:prstGeom prst="rect">
            <a:avLst/>
          </a:prstGeom>
        </p:spPr>
      </p:pic>
      <p:pic>
        <p:nvPicPr>
          <p:cNvPr id="50" name="Picture 49" descr="box3_compos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7678" y="33626960"/>
            <a:ext cx="10919756" cy="4952160"/>
          </a:xfrm>
          <a:prstGeom prst="rect">
            <a:avLst/>
          </a:prstGeom>
        </p:spPr>
      </p:pic>
      <p:pic>
        <p:nvPicPr>
          <p:cNvPr id="51" name="Picture 50" descr="box4_mae_redu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04040" y="33626960"/>
            <a:ext cx="11988375" cy="49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Personalizzato</PresentationFormat>
  <Paragraphs>30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Aptos Display</vt:lpstr>
      <vt:lpstr>Arial</vt:lpstr>
      <vt:lpstr>Office Theme</vt:lpstr>
      <vt:lpstr>Presentazione standard di PowerPoint</vt:lpstr>
    </vt:vector>
  </TitlesOfParts>
  <Company>University of Pisa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 Poster Template</dc:title>
  <dc:subject>A0 portrait poster template for Generative and Deep Learning Course - University of Pisa</dc:subject>
  <dc:creator>OpenAI</dc:creator>
  <cp:lastModifiedBy>Davide Bacciu</cp:lastModifiedBy>
  <cp:revision>2</cp:revision>
  <dcterms:created xsi:type="dcterms:W3CDTF">2026-05-14T15:30:59Z</dcterms:created>
  <dcterms:modified xsi:type="dcterms:W3CDTF">2026-05-14T15:56:58Z</dcterms:modified>
</cp:coreProperties>
</file>