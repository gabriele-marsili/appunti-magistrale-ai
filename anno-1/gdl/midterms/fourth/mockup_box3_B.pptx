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2103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3898880" cy="20299680"/>
          </a:xfrm>
          <a:prstGeom prst="rect">
            <a:avLst/>
          </a:prstGeom>
          <a:solidFill>
            <a:srgbClr val="ECFEFF"/>
          </a:solidFill>
          <a:ln w="381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3167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0E7490"/>
                </a:solidFill>
                <a:latin typeface="Calibri"/>
              </a:rPr>
              <a:t>3 · Experiments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F172A"/>
                </a:solidFill>
                <a:latin typeface="Calibri"/>
              </a:rPr>
              <a:t>Datasets, baselines, and key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3167360" cy="6400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Setup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QM9 (small organics, up to 9 atoms) and ZINC-250k (drug-like). 500 diffusion steps; classifier-free guidance, λ = 3 on QM9, λ = 2 on ZINC. Two tasks. Targeting: 100 property values × 10 molecules each, scored by MAE. Optimization (Jin et al.): corrupt for 100 steps, denoise toward the target, keep the best candidate above a Tanimoto threshold.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Baselines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FreeGress and DiGress for targeting; JT-VAE, CG-VAE, GCPN for optimization. All operate on a fixed graph size. GrIDDD is the only model that can insert and delete atoms while sampling.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Targeting accuracy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GrIDDD lowers MAE on both targeting benchmarks. QM9 dipole moment μ: 0.66 vs 0.74 (FreeGress). ZINC molecular weight: 4.89 vs 8.96, roughly half the error of the strongest baseline, with no target size supplied to the model at inference.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172A"/>
                </a:solidFill>
                <a:latin typeface="Calibri"/>
              </a:rPr>
              <a:t>Optimization, OOD, ablation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33415B"/>
                </a:solidFill>
                <a:latin typeface="Calibri"/>
              </a:rPr>
              <a:t>On graph-property optimization, QED success reaches 45.1% against 9.4% for GCPN, and LogP improvement is 2.70. Out of distribution, where models are trained up to 14 atoms, GrIDDD still produces 35% valid molecules at size 15; DiGress collapses to near zero. Removing insertion and deletion takes QED success from 45.1% to 33.8%, so size control, not the diffusion backbone alone, is what produces the gains.</a:t>
            </a:r>
          </a:p>
        </p:txBody>
      </p:sp>
      <p:pic>
        <p:nvPicPr>
          <p:cNvPr id="5" name="Picture 4" descr="orig_table2_z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0"/>
            <a:ext cx="13167360" cy="29106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2100399"/>
            <a:ext cx="1316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3415B"/>
                </a:solidFill>
                <a:latin typeface="Calibri"/>
              </a:rPr>
              <a:t>Table 2 — property targeting on ZINC-250k.</a:t>
            </a:r>
          </a:p>
        </p:txBody>
      </p:sp>
      <p:pic>
        <p:nvPicPr>
          <p:cNvPr id="7" name="Picture 6" descr="orig_fig3_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36" y="12831919"/>
            <a:ext cx="11970327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6535239"/>
            <a:ext cx="1316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3415B"/>
                </a:solidFill>
                <a:latin typeface="Calibri"/>
              </a:rPr>
              <a:t>Fig. 3 — out-of-distribution validity.</a:t>
            </a:r>
          </a:p>
        </p:txBody>
      </p:sp>
      <p:pic>
        <p:nvPicPr>
          <p:cNvPr id="9" name="Picture 8" descr="orig_table3_opt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936" y="17266759"/>
            <a:ext cx="11302527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0787199"/>
            <a:ext cx="13167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33415B"/>
                </a:solidFill>
                <a:latin typeface="Calibri"/>
              </a:rPr>
              <a:t>Table 3 — graph-property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